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bubble3D val="0"/>
            <c:spPr>
              <a:solidFill>
                <a:srgbClr val="4299E1"/>
              </a:solidFill>
              <a:effectLst/>
            </c:spPr>
          </c:dPt>
          <c:dPt>
            <c:idx val="3"/>
            <c:bubble3D val="0"/>
            <c:spPr>
              <a:solidFill>
                <a:srgbClr val="63B3ED"/>
              </a:solidFill>
              <a:effectLst/>
            </c:spPr>
          </c:dPt>
          <c:dPt>
            <c:idx val="4"/>
            <c:bubble3D val="0"/>
            <c:spPr>
              <a:solidFill>
                <a:srgbClr val="BEE3F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2800</c:v>
                </c:pt>
                <c:pt idx="1">
                  <c:v>3900</c:v>
                </c:pt>
                <c:pt idx="2">
                  <c:v>5200</c:v>
                </c:pt>
                <c:pt idx="3">
                  <c:v>6800</c:v>
                </c:pt>
                <c:pt idx="4">
                  <c:v>8800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年成長率 (%)</c:v>
                </c:pt>
              </c:strCache>
            </c:strRef>
          </c:tx>
          <c:spPr>
            <a:solidFill>
              <a:srgbClr val="E8830C"/>
            </a:solidFill>
            <a:ln w="38100" cap="flat">
              <a:solidFill>
                <a:srgbClr val="E883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E8830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830C"/>
              </a:solidFill>
              <a:ln w="9525" cap="flat">
                <a:solidFill>
                  <a:srgbClr val="E883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39</c:v>
                </c:pt>
                <c:pt idx="2">
                  <c:v>33</c:v>
                </c:pt>
                <c:pt idx="3">
                  <c:v>31</c:v>
                </c:pt>
                <c:pt idx="4">
                  <c:v>29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E8830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4404F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7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D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B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55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推理</c:v>
                  </c:pt>
                  <c:pt idx="1">
                    <c:v>多模態</c:v>
                  </c:pt>
                  <c:pt idx="2">
                    <c:v>長文本</c:v>
                  </c:pt>
                  <c:pt idx="3">
                    <c:v>工具使用</c:v>
                  </c:pt>
                  <c:pt idx="4">
                    <c:v>程式能力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82</c:v>
                </c:pt>
                <c:pt idx="2">
                  <c:v>90</c:v>
                </c:pt>
                <c:pt idx="3">
                  <c:v>85</c:v>
                </c:pt>
                <c:pt idx="4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客戶服務</c:v>
                  </c:pt>
                  <c:pt idx="1">
                    <c:v>行銷內容</c:v>
                  </c:pt>
                  <c:pt idx="2">
                    <c:v>研發工程</c:v>
                  </c:pt>
                  <c:pt idx="3">
                    <c:v>營運流程</c:v>
                  </c:pt>
                  <c:pt idx="4">
                    <c:v>其他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34404F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提升幅度 (%)</c:v>
                </c:pt>
              </c:strCache>
            </c:strRef>
          </c:tx>
          <c:spPr>
            <a:solidFill>
              <a:srgbClr val="D4A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7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作業效率</c:v>
                  </c:pt>
                  <c:pt idx="1">
                    <c:v>成本節省</c:v>
                  </c:pt>
                  <c:pt idx="2">
                    <c:v>客戶回應速度</c:v>
                  </c:pt>
                  <c:pt idx="3">
                    <c:v>營收貢獻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55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27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4404F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3A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5" name="Shape 3"/>
          <p:cNvSpPr/>
          <p:nvPr/>
        </p:nvSpPr>
        <p:spPr>
          <a:xfrm flipH="1" rot="5400000">
            <a:off x="10607040" y="128016"/>
            <a:ext cx="1581912" cy="1371600"/>
          </a:xfrm>
          <a:prstGeom prst="rtTriangle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394960"/>
            <a:ext cx="1463040" cy="1463040"/>
          </a:xfrm>
          <a:prstGeom prst="rtTriangle">
            <a:avLst/>
          </a:prstGeom>
          <a:solidFill>
            <a:srgbClr val="E8830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D4A43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9BE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ANNUAL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2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4736592" y="3749040"/>
            <a:ext cx="2926080" cy="54864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977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E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洞察未來 · 引領變革 | 生成式 AI × 企業智能 × 安全治理 × Agent 自動化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5120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Industry Trends &amp; Outlook  |  Market · Technology · Governance</a:t>
            </a:r>
            <a:endParaRPr lang="en-US" sz="12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16916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產業整體市場規模與成長預測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691640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916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0" y="16916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 技術發展現況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70632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706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" y="2770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91640" y="277063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 AI 導入案例與成效分析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72200" y="2770632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770632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7706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55080" y="2770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0" y="277063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與自動化工作流趨勢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3849624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49624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849624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31520" y="3849624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91640" y="3849624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安全與法規治理最新動態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72200" y="3849624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3849624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849624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355080" y="3849624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315200" y="3849624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AI 產業機會與挑戰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48640" y="4928616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928616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928616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31520" y="492861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1691640" y="492861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3 年關鍵預測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172200" y="4928616"/>
            <a:ext cx="5349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4928616"/>
            <a:ext cx="91440" cy="8686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928616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355080" y="492861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315200" y="492861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總結與建議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 ·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產業整體市場規模與成長預測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2057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205740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5,200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億美元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全球 AI 市場規模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1554480"/>
            <a:ext cx="2057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554480"/>
            <a:ext cx="2057400" cy="7315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7373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788920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CAGR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2024–2028 年複合成長率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1554480"/>
            <a:ext cx="2057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554480"/>
            <a:ext cx="2057400" cy="73152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373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029200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 於整體市場占比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AI 市場規模成長趨勢（億美元）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657600"/>
          <a:ext cx="5212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12648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年度成長率走勢（%）</a:t>
            </a:r>
            <a:endParaRPr lang="en-US" sz="13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126480" y="3657600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數據為依公開產業報告（如 IDC / Statista / Grand View Research 等）常見區間之示意推估，非即時精確數據，僅供趨勢示意。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02 · 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 技術發展現況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模型能力演進指數（示意）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1264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主要技術發展方向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201168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2231136"/>
            <a:ext cx="411480" cy="411480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231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12280" y="20848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多模態整合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1228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文字、影像、語音、影片統一模型，跨模態理解與生成成為標配。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297180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3191256"/>
            <a:ext cx="411480" cy="411480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12280" y="30449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推理能力強化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12280" y="33192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思維鏈與測試時運算（test-time compute），提升複雜問題解決能力。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93192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151376"/>
            <a:ext cx="411480" cy="411480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4151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12280" y="4005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長上下文與記憶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12280" y="42793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百萬級 token 上下文窗口，支援長文件與持續性記憶應用。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26480" y="489204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5111496"/>
            <a:ext cx="411480" cy="411480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5111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12280" y="4965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效率與小型化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12280" y="5239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模型蒸餾、量化與 MoE 架構，降低推論成本、邊緣部署普及。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能力指數為相對示意值，用於呈現技術方向強弱，非標準化基準分數。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</a:rPr>
              <a:t>企業 AI 導入案例與成效分析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89B0"/>
                </a:solidFill>
              </a:rPr>
              <a:t>2025 年全球企業調查彙整（N = 2,400）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1280160" cy="3200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1892808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A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1892808" cy="502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189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</a:rPr>
              <a:t>42%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作業效率提升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1261872"/>
            <a:ext cx="1892808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A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261872"/>
            <a:ext cx="1892808" cy="502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89888"/>
            <a:ext cx="189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</a:rPr>
              <a:t>28%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79192" y="184708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成本節省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9744" y="1261872"/>
            <a:ext cx="1892808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A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261872"/>
            <a:ext cx="1892808" cy="502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389888"/>
            <a:ext cx="189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</a:rPr>
              <a:t>55%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55464" y="184708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客戶回應速度提升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86016" y="1261872"/>
            <a:ext cx="1892808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A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6016" y="1261872"/>
            <a:ext cx="1892808" cy="502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6986016" y="1389888"/>
            <a:ext cx="189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</a:rPr>
              <a:t>3.2×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31736" y="184708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</a:rPr>
              <a:t>平均投資報酬率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企業 AI 應用場景分布（%）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914400" cy="27432"/>
          </a:xfrm>
          <a:prstGeom prst="rect">
            <a:avLst/>
          </a:prstGeom>
          <a:solidFill>
            <a:srgbClr val="2B6CB0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914400" y="2779776"/>
          <a:ext cx="73152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89B0"/>
                </a:solidFill>
              </a:rPr>
              <a:t>資料來源：McKinsey Global AI Survey 2025。成效依產業與導入深度而異。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 AI 產業趨勢報告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9808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04 · 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與自動化工作流趨勢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自動化工作流示意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理解需求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2331720"/>
            <a:ext cx="365760" cy="320040"/>
          </a:xfrm>
          <a:prstGeom prst="rightArrow">
            <a:avLst/>
          </a:prstGeom>
          <a:solidFill>
            <a:srgbClr val="D4A437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D4A437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9659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拆解任務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23560" y="2331720"/>
            <a:ext cx="365760" cy="320040"/>
          </a:xfrm>
          <a:prstGeom prst="rightArrow">
            <a:avLst/>
          </a:prstGeom>
          <a:solidFill>
            <a:srgbClr val="D4A43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8830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調用工具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2331720"/>
            <a:ext cx="365760" cy="320040"/>
          </a:xfrm>
          <a:prstGeom prst="rightArrow">
            <a:avLst/>
          </a:prstGeom>
          <a:solidFill>
            <a:srgbClr val="D4A437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19659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回饋優化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3520440" cy="7315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66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4.7倍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相關市場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預估年增動能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383280"/>
            <a:ext cx="3520440" cy="7315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566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43484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企業計畫於兩年內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 AI Agent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338328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3383280"/>
            <a:ext cx="3520440" cy="73152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3566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24/7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183880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自動化工作流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全天候不間斷運作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單一任務助手 → 多 Agent 協作系統，分工完成複雜流程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工具調用（Tool Use / MCP）成為標準，串接企業內部系統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應用聚焦：客服、IT 維運、資料分析、文件處理與軟體開發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市場動能與導入意願為依公開調查之示意推估，僅供趨勢參考。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05 · GOVERNANCE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安全與法規治理最新動態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F27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109728" cy="1874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風險分級監管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 AI Act 等以風險分級為核心，對高風險應用設置合規義務與透明度要求。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F27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645920"/>
            <a:ext cx="109728" cy="18745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資料隱私與版權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0" y="242316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訓練資料來源、個資保護與生成內容版權，成為全球監理與訴訟焦點。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F2747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94760"/>
            <a:ext cx="109728" cy="1874520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E8830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安全與對齊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5720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模型紅隊測試、越獄防禦、幻覺控制與價值對齊（alignment）成為重點。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F2747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794760"/>
            <a:ext cx="109728" cy="18745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可解釋與問責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23760" y="45720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決策可解釋性、稽核軌跡與責任歸屬機制，強化可信任 AI 落地。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EU AI Act 等為方向性主題示意整理，實際法規條文與時程請以官方公告為準。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06 · TAIWAN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AI 產業機會與挑戰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0F6EF"/>
          </a:solidFill>
          <a:ln w="12700">
            <a:solidFill>
              <a:srgbClr val="CFE3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349240" cy="59436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 OPPORTUNITIES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50" dirty="0">
                <a:solidFill>
                  <a:srgbClr val="2E5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半導體與先進製程供應鏈優勢，受惠 AI 晶片需求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50" dirty="0">
                <a:solidFill>
                  <a:srgbClr val="2E5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伺服器、散熱、機構代工形成完整 AI 硬體生態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50" dirty="0">
                <a:solidFill>
                  <a:srgbClr val="2E5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製造業場域多元，利於 AI 落地與垂直應用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50" dirty="0">
                <a:solidFill>
                  <a:srgbClr val="2E5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工程人才扎實，具備系統整合與優化能力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BF0EC"/>
          </a:solidFill>
          <a:ln w="12700">
            <a:solidFill>
              <a:srgbClr val="F0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45920"/>
            <a:ext cx="5349240" cy="594360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 CHALLENGES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▶"/>
            </a:pPr>
            <a:r>
              <a:rPr lang="en-US" sz="1250" dirty="0">
                <a:solidFill>
                  <a:srgbClr val="A0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軟體與 AI 模型自主研發能量相對不足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▶"/>
            </a:pPr>
            <a:r>
              <a:rPr lang="en-US" sz="1250" dirty="0">
                <a:solidFill>
                  <a:srgbClr val="A0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高階人才競爭激烈，面臨國際搶才壓力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▶"/>
            </a:pPr>
            <a:r>
              <a:rPr lang="en-US" sz="1250" dirty="0">
                <a:solidFill>
                  <a:srgbClr val="A0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內需市場規模有限，國際品牌化挑戰大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▶"/>
            </a:pPr>
            <a:r>
              <a:rPr lang="en-US" sz="1250" dirty="0">
                <a:solidFill>
                  <a:srgbClr val="A0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算力基礎建設與能源供應需持續投入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▶"/>
            </a:pPr>
            <a:r>
              <a:rPr lang="en-US" sz="1250" dirty="0">
                <a:solidFill>
                  <a:srgbClr val="A04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資料治理與跨域應用法規仍待完善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07 ·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3 年關鍵預測（2026–2028）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28016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3566160" cy="2743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進入企業正式生產環境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多模態模型成為主流標準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推論成本大幅下降，應用普及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916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D4A43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331720"/>
            <a:ext cx="3566160" cy="2743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原生應用重塑軟體市場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行業垂直模型廣泛落地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AI 治理框架逐步成形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74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916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8830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331720"/>
            <a:ext cx="3566160" cy="274320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2028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協作生態成熟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人機協作成為工作新常態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帶動生產力顯著提升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上述為趨勢性預測（推論），非保證性結論，實際發展受技術、政策與市場等因素影響。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473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4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產業趨勢報告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739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9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0"/>
            <a:ext cx="1371600" cy="1371600"/>
          </a:xfrm>
          <a:prstGeom prst="rtTriangle">
            <a:avLst/>
          </a:prstGeom>
          <a:solidFill>
            <a:srgbClr val="163A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總結與建議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163A6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重點總結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50" dirty="0">
                <a:solidFill>
                  <a:srgbClr val="E3EA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市場高速成長，生成式 AI 為核心驅動力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50" dirty="0">
                <a:solidFill>
                  <a:srgbClr val="E3EA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技術走向多模態、強推理與低成本部署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50" dirty="0">
                <a:solidFill>
                  <a:srgbClr val="E3EA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企業導入成效顯著，自動化工作流加速普及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50" dirty="0">
                <a:solidFill>
                  <a:srgbClr val="E3EA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成為下一波關鍵應用浪潮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50" dirty="0">
                <a:solidFill>
                  <a:srgbClr val="E3EA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安全與法規治理為可持續發展前提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691640"/>
            <a:ext cx="109728" cy="4023360"/>
          </a:xfrm>
          <a:prstGeom prst="rect">
            <a:avLst/>
          </a:prstGeom>
          <a:solidFill>
            <a:srgbClr val="E883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3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行動建議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365760" cy="36576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286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先試點再規模化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03720" y="25877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從高價值、低風險場景切入，快速驗證 ROI 後再擴展。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182112"/>
            <a:ext cx="365760" cy="36576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090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建立資料與算力基礎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03720" y="33924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整理高品質內部資料，規劃算力與雲端策略。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3986784"/>
            <a:ext cx="365760" cy="36576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8953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投資人才與治理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03720" y="41970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培養 AI 應用人才，同步建立安全與合規機制。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4791456"/>
            <a:ext cx="365760" cy="36576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7000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擁抱 Agent 工作流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03720" y="50017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評估流程自動化機會，導入 AI Agent 提升生產力。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4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把握 2026，將 AI 從試點走向核心競爭力 —</a:t>
            </a:r>
            <a:endParaRPr lang="en-US" sz="1300" dirty="0"/>
          </a:p>
        </p:txBody>
      </p:sp>
      <p:sp>
        <p:nvSpPr>
          <p:cNvPr id="99901" name="WM_0"/>
          <p:cNvSpPr txBox="1"/>
          <p:nvPr/>
        </p:nvSpPr>
        <p:spPr>
          <a:xfrm rot="-1800000">
            <a:off x="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2" name="WM_1"/>
          <p:cNvSpPr txBox="1"/>
          <p:nvPr/>
        </p:nvSpPr>
        <p:spPr>
          <a:xfrm rot="-1800000">
            <a:off x="4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3" name="WM_2"/>
          <p:cNvSpPr txBox="1"/>
          <p:nvPr/>
        </p:nvSpPr>
        <p:spPr>
          <a:xfrm rot="-1800000">
            <a:off x="8200000" y="2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4" name="WM_3"/>
          <p:cNvSpPr txBox="1"/>
          <p:nvPr/>
        </p:nvSpPr>
        <p:spPr>
          <a:xfrm rot="-1800000">
            <a:off x="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5" name="WM_4"/>
          <p:cNvSpPr txBox="1"/>
          <p:nvPr/>
        </p:nvSpPr>
        <p:spPr>
          <a:xfrm rot="-1800000">
            <a:off x="4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6" name="WM_5"/>
          <p:cNvSpPr txBox="1"/>
          <p:nvPr/>
        </p:nvSpPr>
        <p:spPr>
          <a:xfrm rot="-1800000">
            <a:off x="8200000" y="26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7" name="WM_6"/>
          <p:cNvSpPr txBox="1"/>
          <p:nvPr/>
        </p:nvSpPr>
        <p:spPr>
          <a:xfrm rot="-1800000">
            <a:off x="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8" name="WM_7"/>
          <p:cNvSpPr txBox="1"/>
          <p:nvPr/>
        </p:nvSpPr>
        <p:spPr>
          <a:xfrm rot="-1800000">
            <a:off x="4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  <p:sp>
        <p:nvSpPr>
          <p:cNvPr id="99909" name="WM_8"/>
          <p:cNvSpPr txBox="1"/>
          <p:nvPr/>
        </p:nvSpPr>
        <p:spPr>
          <a:xfrm rot="-1800000">
            <a:off x="8200000" y="5000000"/>
            <a:ext cx="40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TW" sz="2400" dirty="0">
                <a:solidFill>
                  <a:srgbClr val="B0B0B0">
                    <a:alpha val="15000"/>
                  </a:srgbClr>
                </a:solidFill>
                <a:latin typeface="Arial"/>
                <a:ea typeface="Microsoft JhengHei"/>
              </a:rPr>
              <a:t>強茂 - 測試功能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2026-06-10T16:10:04Z</dcterms:created>
  <dcterms:modified xsi:type="dcterms:W3CDTF">2026-06-10T16:10:04Z</dcterms:modified>
</cp:coreProperties>
</file>