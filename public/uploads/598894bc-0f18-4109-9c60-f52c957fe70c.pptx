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主要研究機構 2026 市場規模預測 (US$B)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市場規模 (US$B)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Grand View</c:v>
                  </c:pt>
                  <c:pt idx="1">
                    <c:v>Statista</c:v>
                  </c:pt>
                  <c:pt idx="2">
                    <c:v>MktsAndMkts</c:v>
                  </c:pt>
                  <c:pt idx="3">
                    <c:v>Fortune BI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539.5</c:v>
                </c:pt>
                <c:pt idx="1">
                  <c:v>617.6</c:v>
                </c:pt>
                <c:pt idx="2">
                  <c:v>601.9</c:v>
                </c:pt>
                <c:pt idx="3">
                  <c:v>375.9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全球 AI 市場成長曲線 (US$B, 2024–2028E)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Grand View</c:v>
                </c:pt>
              </c:strCache>
            </c:strRef>
          </c:tx>
          <c:spPr>
            <a:solidFill>
              <a:srgbClr val="2B6CB0"/>
            </a:solidFill>
            <a:ln w="25400" cap="flat">
              <a:solidFill>
                <a:srgbClr val="2B6C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6CB0"/>
              </a:solidFill>
              <a:ln w="9525" cap="flat">
                <a:solidFill>
                  <a:srgbClr val="2B6C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279</c:v>
                </c:pt>
                <c:pt idx="1">
                  <c:v>390</c:v>
                </c:pt>
                <c:pt idx="2">
                  <c:v>540</c:v>
                </c:pt>
                <c:pt idx="3">
                  <c:v>705</c:v>
                </c:pt>
                <c:pt idx="4">
                  <c:v>920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MktsAndMkts</c:v>
                </c:pt>
              </c:strCache>
            </c:strRef>
          </c:tx>
          <c:spPr>
            <a:solidFill>
              <a:srgbClr val="E84855"/>
            </a:solidFill>
            <a:ln w="25400" cap="flat">
              <a:solidFill>
                <a:srgbClr val="E848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4855"/>
              </a:solidFill>
              <a:ln w="9525" cap="flat">
                <a:solidFill>
                  <a:srgbClr val="E848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298</c:v>
                </c:pt>
                <c:pt idx="1">
                  <c:v>407</c:v>
                </c:pt>
                <c:pt idx="2">
                  <c:v>602</c:v>
                </c:pt>
                <c:pt idx="3">
                  <c:v>778</c:v>
                </c:pt>
                <c:pt idx="4">
                  <c:v>1005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企業生成式 AI 應用場景採用率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採用率 (%)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內容產生</c:v>
                  </c:pt>
                  <c:pt idx="1">
                    <c:v>程式碼生成</c:v>
                  </c:pt>
                  <c:pt idx="2">
                    <c:v>客戶互動/客服</c:v>
                  </c:pt>
                  <c:pt idx="3">
                    <c:v>知識管理</c:v>
                  </c:pt>
                  <c:pt idx="4">
                    <c:v>行銷/廣告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58</c:v>
                </c:pt>
                <c:pt idx="2">
                  <c:v>54</c:v>
                </c:pt>
                <c:pt idx="3">
                  <c:v>42</c:v>
                </c:pt>
                <c:pt idx="4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AI Agent 市場規模預測 (2025–2030, US$B)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 市場 (US$B)</c:v>
                </c:pt>
              </c:strCache>
            </c:strRef>
          </c:tx>
          <c:spPr>
            <a:solidFill>
              <a:srgbClr val="2B6CB0"/>
            </a:solidFill>
            <a:ln w="38100" cap="flat">
              <a:solidFill>
                <a:srgbClr val="2B6C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B6CB0"/>
              </a:solidFill>
              <a:ln w="9525" cap="flat">
                <a:solidFill>
                  <a:srgbClr val="2B6C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7.6</c:v>
                </c:pt>
                <c:pt idx="1">
                  <c:v>10.9</c:v>
                </c:pt>
                <c:pt idx="2">
                  <c:v>15.8</c:v>
                </c:pt>
                <c:pt idx="3">
                  <c:v>23</c:v>
                </c:pt>
                <c:pt idx="4">
                  <c:v>34</c:v>
                </c:pt>
                <c:pt idx="5">
                  <c:v>50.3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365760" cy="4572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137160" cy="45720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731520"/>
            <a:ext cx="1188720" cy="1188720"/>
          </a:xfrm>
          <a:prstGeom prst="ellipse">
            <a:avLst/>
          </a:prstGeom>
          <a:solidFill>
            <a:srgbClr val="2B6CB0">
              <a:alpha val="60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0" y="4754880"/>
            <a:ext cx="822960" cy="822960"/>
          </a:xfrm>
          <a:prstGeom prst="ellipse">
            <a:avLst/>
          </a:prstGeom>
          <a:solidFill>
            <a:srgbClr val="E84855">
              <a:alpha val="70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548640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0B4D0"/>
                </a:solidFill>
              </a:rPr>
              <a:t>INDUSTRY INSIGHT REPORT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2026 AI 產業趨勢報告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1097280" y="3520440"/>
            <a:ext cx="164592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4D0"/>
                </a:solidFill>
              </a:rPr>
              <a:t>市場規模・技術演進・企業導入・法規治理・台灣機會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D0"/>
                </a:solidFill>
              </a:rPr>
              <a:t>版本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v1.0</a:t>
            </a:r>
            <a:pPr indent="0" marL="0">
              <a:buNone/>
            </a:pPr>
            <a:r>
              <a:rPr lang="en-US" sz="1400" dirty="0">
                <a:solidFill>
                  <a:srgbClr val="A0B4D0"/>
                </a:solidFill>
              </a:rPr>
              <a:t>　　發布日期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2026-07-02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623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4D0"/>
                </a:solidFill>
              </a:rPr>
              <a:t>資料來源：Grand View Research・Statista・MarketsandMarkets・Gartner・Deloitte・McKinsey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簡報章節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目錄　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AI 產業整體市場規模與成長預測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全球市場、投資規模、區域占比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46304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645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747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生成式 AI 技術發展現況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LLM 前沿模型與多模態能力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46304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45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企業 AI 導入案例與成效分析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採用率、ROI、應用場景漏斗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8280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46304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1645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23544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AI Agent 與自動化工作流趨勢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 市場、Gartner 預測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4048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23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9436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AI 安全與法規治理最新動態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5394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歐盟 AI Act、美國、台灣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8404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84048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4023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347472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台灣 AI 產業機會與挑戰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5394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半導體優勢、生態系、政策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8404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84048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023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07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635508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未來 3 年關鍵預測 (2026–2028)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55080" y="5394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技術、市場、應用、監管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98280" y="38404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98280" y="3840480"/>
            <a:ext cx="2743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4023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6CB0"/>
                </a:solidFill>
              </a:rPr>
              <a:t>08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923544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總結與行動建議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35440" y="5394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核心結論・企業行動指南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01　MARKET SIZE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AI 產業整體市場規模與成長預測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6CB0"/>
                </a:solidFill>
              </a:rPr>
              <a:t>US$539.5B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Grand View 2026 市場規模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417320"/>
            <a:ext cx="269748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002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855"/>
                </a:solidFill>
              </a:rPr>
              <a:t>30.6%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Grand View CAGR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9748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002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A169"/>
                </a:solidFill>
              </a:rPr>
              <a:t>US$2.52兆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2026 全球 AI 總支出 (+44% YoY)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41732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1417320"/>
            <a:ext cx="2697480" cy="731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6002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9E2E"/>
                </a:solidFill>
              </a:rPr>
              <a:t>US$1.37兆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89720" y="2194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AI 基礎設施支出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880360"/>
          <a:ext cx="6217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6766560" y="288036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10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資料來源：Grand View Research、Statista、MarketsandMarkets、Fortune Business Insights、AI Statistics Center （2027–2028 為依 CAGR 推算之推論值）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02　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生成式 AI 技術發展現況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LLM 前沿模型 (2026 GPAI 系統性風險名單)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943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廠商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定位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GPT-4 / GPT-5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OpenAI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通用 + 系統性風險 GPAI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Claude Opus 4.5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Anthropic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多模態、長脈絡推理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Gemini 3 Pro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Google DeepMind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多模態原生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Llama 3 /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Meta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開源基座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Grok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xAI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即時網路整合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67512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系統性風險門檻與監管重點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182880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828800"/>
            <a:ext cx="109728" cy="1188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1901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訓練算力門檻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03720" y="22402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</a:rPr>
              <a:t>訓練算力超過 10²⁵ FLOPs 即列為系統性風險 GPAI，需公開能耗指標並發布 Safety &amp; Security Framework。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75120" y="315468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0" y="3154680"/>
            <a:ext cx="109728" cy="11887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3227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事件通報義務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03720" y="35661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</a:rPr>
              <a:t>系統性風險模型須於 72 小時內回報重大事件；提供者需揭露能耗、資安評估與模型卡。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多模態能力比較（依廠商公開資訊，推論）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983480"/>
            <a:ext cx="3703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983480"/>
            <a:ext cx="370332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5120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Claude Opus 4.5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4360" y="5440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長脈絡、程式碼、文字理解領先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43400" y="4983480"/>
            <a:ext cx="3703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43400" y="4983480"/>
            <a:ext cx="370332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80560" y="5120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Gemini 3 Pro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80560" y="5440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影像 / 影片 / 語音多模態原生最完整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229600" y="4983480"/>
            <a:ext cx="3703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0" y="4983480"/>
            <a:ext cx="370332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66760" y="5120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GPT-5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366760" y="5440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程式碼、文字與整體均衡最強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/ 10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資料來源：EU AI Act Guide、Center for Democracy and Technology、廠商公開資訊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03　ENTERPRISE ADOPTION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企業 AI 導入案例與成效分析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6CB0"/>
                </a:solidFill>
              </a:rPr>
              <a:t>88%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至少一項業務導入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417320"/>
            <a:ext cx="269748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855"/>
                </a:solidFill>
              </a:rPr>
              <a:t>5.8×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McKinsey：AI 投資平均 ROI (14 個月)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9748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A169"/>
                </a:solidFill>
              </a:rPr>
              <a:t>44%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生產環境專案 12 個月內達正 ROI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4173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1417320"/>
            <a:ext cx="2697480" cy="731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9E2E"/>
                </a:solidFill>
              </a:rPr>
              <a:t>US$7,800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89720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GenAI 為知識工作者年生產力價值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8892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400800" y="2788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企業 AI 導入漏斗 (Adoption Funnel)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3246120"/>
            <a:ext cx="5486400" cy="384048"/>
          </a:xfrm>
          <a:prstGeom prst="rect">
            <a:avLst/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0" y="3246120"/>
            <a:ext cx="4828032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246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至少一項業務使用 AI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338560" y="32461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88%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3794760"/>
            <a:ext cx="5486400" cy="384048"/>
          </a:xfrm>
          <a:prstGeom prst="rect">
            <a:avLst/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3794760"/>
            <a:ext cx="2852928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0" y="3794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導入生產環境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338560" y="37947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52%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0" y="4343400"/>
            <a:ext cx="5486400" cy="384048"/>
          </a:xfrm>
          <a:prstGeom prst="rect">
            <a:avLst/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0" y="4343400"/>
            <a:ext cx="2414016" cy="38404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4343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 個月內達正 ROI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33856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44%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0" y="4892040"/>
            <a:ext cx="5486400" cy="384048"/>
          </a:xfrm>
          <a:prstGeom prst="rect">
            <a:avLst/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0" y="4892040"/>
            <a:ext cx="1591056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92240" y="4892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顯著 ROI (GenAI)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338560" y="48920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29%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00800" y="5440680"/>
            <a:ext cx="5486400" cy="384048"/>
          </a:xfrm>
          <a:prstGeom prst="rect">
            <a:avLst/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00800" y="5440680"/>
            <a:ext cx="1261872" cy="3840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92240" y="5440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顯著 ROI (AI Agent)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338560" y="54406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23%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10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資料來源：WRITER Enterprise AI Adoption 2026、Deloitte State of AI、a16z、McKinsey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04　AI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AI Agent 與自動化工作流趨勢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</a:rPr>
              <a:t>40%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2026 年底企業應用內建任務型 Agent (Gartner)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417320"/>
            <a:ext cx="269748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4855"/>
                </a:solidFill>
              </a:rPr>
              <a:t>171%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Agent 平均 ROI (美國企業 192%)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9748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A169"/>
                </a:solidFill>
              </a:rPr>
              <a:t>66%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已部署 Agent 企業獲得可衡量生產力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98280" y="14173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1417320"/>
            <a:ext cx="2697480" cy="731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9E2E"/>
                </a:solidFill>
              </a:rPr>
              <a:t>US$9–12B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8972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2026 AI Agent 市場規模</a:t>
            </a:r>
            <a:endParaRPr lang="en-US" sz="9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8346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400800" y="2834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AI Agent 應用階梯（成熟度演進）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3291840"/>
            <a:ext cx="5486400" cy="384048"/>
          </a:xfrm>
          <a:prstGeom prst="rect">
            <a:avLst/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32918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Lv1　單一任務助理 (Chatbot)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0" y="3794760"/>
            <a:ext cx="5303520" cy="384048"/>
          </a:xfrm>
          <a:prstGeom prst="rect">
            <a:avLst/>
          </a:prstGeom>
          <a:solidFill>
            <a:srgbClr val="9CC3E6"/>
          </a:solidFill>
          <a:ln w="12700">
            <a:solidFill>
              <a:srgbClr val="9CC3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20840" y="3794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Lv2　任務型 Agent (Task-specific)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766560" y="4297680"/>
            <a:ext cx="512064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03720" y="4297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Lv3　多步驟工作流 (Multi-step)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49440" y="4800600"/>
            <a:ext cx="4937760" cy="384048"/>
          </a:xfrm>
          <a:prstGeom prst="rect">
            <a:avLst/>
          </a:prstGeom>
          <a:solidFill>
            <a:srgbClr val="124E78"/>
          </a:solidFill>
          <a:ln w="12700">
            <a:solidFill>
              <a:srgbClr val="124E7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86600" y="4800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Lv4　跨部門協作 (Cross-functional)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132320" y="5303520"/>
            <a:ext cx="4754880" cy="3840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69480" y="53035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Lv5　自主決策 (Autonomous)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00800" y="5852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84855"/>
                </a:solidFill>
              </a:rPr>
              <a:t>⚠  Gartner 預警：40% 以上 Agentic AI 專案將於 2027 前被砍（成本失控／價值不明／風險失控）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/ 10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資料來源：Gartner、Grand View Research、Google Cloud、Accelirate、Tech Insider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05　REGULATION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AI 安全與法規治理最新動態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全球主要 AI 法規時間軸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1247120" cy="3657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148840"/>
            <a:ext cx="274320" cy="2743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2025/02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禁止性 AI 行為 + AI 素養 (EU)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274320" cy="27432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2025/08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通用 GPAI 義務生效 (EU)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0" y="2148840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855"/>
                </a:solidFill>
              </a:rPr>
              <a:t>2026/08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高風險 AI 系統全面合規 (EU)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6600" y="2148840"/>
            <a:ext cx="274320" cy="27432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2025~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台灣 AI 基本法立院審議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0" y="2148840"/>
            <a:ext cx="274320" cy="2743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持續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美國 NIST AI RMF 沿用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835640" y="2148840"/>
            <a:ext cx="274320" cy="2743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2027/08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1268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</a:rPr>
              <a:t>既有 GPAI 模型全面補齊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三大法域合規重點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37033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94760"/>
            <a:ext cx="3703320" cy="4572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22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歐盟 EU AI Act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已生效・分階段執行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66344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2026/8/2 高風險 AI 系統合規截止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最高罰款 €35M 或全球營收 7%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系統性風險 GPAI 需 72 hr 通報重大事件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3794760"/>
            <a:ext cx="37033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3794760"/>
            <a:ext cx="370332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822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美國 US Executive Order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34840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沿用 Biden EO 14110 + NIST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80560" y="466344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聯邦機構全面採用 AI RMF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重視風險評估與部門治理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產業自願性合規為主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38160" y="3794760"/>
            <a:ext cx="37033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3794760"/>
            <a:ext cx="3703320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3822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台灣 AI 基本法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75320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已送行政院・立院審議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466344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建立風險分級架構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各部會訂定管理準則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搭配稅務金融獎勵機制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/ 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資料來源：Legiscope、EU AI Act Guide、European Commission、台灣人工智慧學校、iThome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06　TAIWAN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台灣 AI 產業機會與挑戰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</a:rPr>
              <a:t>NT$1,800億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國科會 2026 科技預算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417320"/>
            <a:ext cx="269748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54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855"/>
                </a:solidFill>
              </a:rPr>
              <a:t>11%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2026 全球 OSAT 市場成長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9748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</a:rPr>
              <a:t>CAGR 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台美 OSAT 2025–2029 成長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41732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1417320"/>
            <a:ext cx="2697480" cy="731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554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9E2E"/>
                </a:solidFill>
              </a:rPr>
              <a:t>3–5 萬人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8972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AI 高階人才缺口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43200"/>
            <a:ext cx="137160" cy="15544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788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</a:rPr>
              <a:t>S　優勢 Strengths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2004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晶圓代工 + 先進封裝 + CoWoS 全球樞紐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AI 伺服器 ODM 供應鏈完整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IC 設計、散熱、CCL/ABF 深度垂直整合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74320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743200"/>
            <a:ext cx="137160" cy="15544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788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55"/>
                </a:solidFill>
              </a:rPr>
              <a:t>W　劣勢 Weaknesses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32004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軟體與應用層競爭力不足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資料主權與訓練資料稀缺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能源供應（電、水、散熱）壓力大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34840"/>
            <a:ext cx="137160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</a:rPr>
              <a:t>O　機會 Opportunities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89204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AI 基本法 + 晶創計畫 + AI+ 實證補助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NVIDIA/AMD 高階晶片訂單流入台美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TAIDE 基礎模型 + 垂直產業應用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443484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4434840"/>
            <a:ext cx="137160" cy="155448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</a:rPr>
              <a:t>T　威脅 Threats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489204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中國半導體市佔擴大至 45%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地緣政治與出口管制風險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3D3D3D"/>
                </a:solidFill>
              </a:rPr>
              <a:t>高階 AI 人才競爭與國際挖角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10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資料來源：BusinessNext、投資臺灣入口網、CIO Taiwan、國發會、人工智慧基金會、Wealth 財訊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07　FORECAST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未來 3 年關鍵預測 (2026–2028)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417320"/>
            <a:ext cx="3108960" cy="5486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417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577840" y="1417320"/>
            <a:ext cx="3108960" cy="5486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417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823960" y="1417320"/>
            <a:ext cx="3108960" cy="5486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1417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2028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78308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技術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31720" y="205740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103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多模態原生模型全面普及；小型 SLM 邊緣化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05740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103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Agent 之間互協商協定 (A2A) 標準化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205740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103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具備長期記憶的個人 AI 助理主流化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783080" cy="9144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市場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331720" y="306324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AI 市場破 US$540B；Agent 市場破 US$10B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06324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AI 市場破 US$700B（推論）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23960" y="306324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全球 AI 支出破 US$3 兆（推論）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1783080" cy="9144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69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應用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331720" y="406908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114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40% 企業 App 內建 Agent；程式碼生成成 IT 標配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406908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4114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1/3 Agent 專案結合多技能 Agent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23960" y="406908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4114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半數企業有部門級 Agent 團隊（推論）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074920"/>
            <a:ext cx="1783080" cy="9144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0749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監管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331720" y="507492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5120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EU AI Act 高風險合規上路；台灣基本法子法陸續發布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507492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5120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GPAI 補齊完成；亞太多國跟進 AI 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23960" y="507492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5120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全球 AI 稽核／驗證機構市場成熟（推論）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1722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主要不確定因素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能源瓶頸 (推論)　·　歐美監管衝突　·　40% Agent 專案被砍 (Gartner)　·　全球 AI 人才缺口 (推論)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/ 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</a:rPr>
              <a:t>08　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總結與行動建議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716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核心結論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760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11680"/>
            <a:ext cx="548640" cy="54864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AI 商業化元年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240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2026 全球 AI 市場 US$540–618B，總支出 US$2.52 兆 (+44%)，全面進入商業化階段。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5760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63240"/>
            <a:ext cx="548640" cy="54864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Agent 從實驗到落地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Gartner 預測 40% 企業應用內建 Agent，平均 ROI 171%；但 40% 專案將於 2027 前被砍。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5760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114800"/>
            <a:ext cx="548640" cy="54864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023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合規壓力升溫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343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歐盟 AI Act 高風險合規 2026/8/2 上路，最高罰全球營收 7%；台灣基本法同步推進。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83480"/>
            <a:ext cx="5760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166360"/>
            <a:ext cx="548640" cy="54864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5074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台灣硬體優勢延續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5394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</a:rPr>
              <a:t>台美 OSAT CAGR 9%，晶圓/封裝/伺服器供應鏈完整；軟體、人才、能源仍是關鍵挑戰。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669280" cy="4617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417320"/>
            <a:ext cx="566928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600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企業行動建議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0" y="2011680"/>
            <a:ext cx="914400" cy="3657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194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2194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建立 AI 治理框架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2514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依 NIST AI RMF 與 EU AI Act 要求，設定風險分級與事件通報機制。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0" y="29443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02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9443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從高 ROI 場景先行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78040" y="326440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內容產生、程式碼生成、客服自動化為採用率最高場景，優先試點。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36941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78040" y="369417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評估 Agent 商業價值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401421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避免陷入 40% 被砍名單：先做小範圍 POC、明確衡量指標與退場條件。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0" y="4443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04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44398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加碼人才與資料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78040" y="476402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因應 3–5 萬人才缺口，內部訓練 + 外部合作，同步建立資料治理制度。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0" y="51937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05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78040" y="519379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掌握台灣供應鏈定位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78040" y="55138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半導體、AI 伺服器、散熱、CCL/ABF 為 2026 首選類股，鎖定供應鏈機會。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　·　2026-07-02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 / 10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資料來源：綜合彙整自 Grand View、Statista、Gartner、Deloitte、McKinsey、EU AI Act Guide、國發會等 25+ 權威來源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產業趨勢報告</dc:title>
  <dc:subject>PptxGenJS Presentation</dc:subject>
  <dc:creator>PptxGenJS</dc:creator>
  <cp:lastModifiedBy>PptxGenJS</cp:lastModifiedBy>
  <cp:revision>1</cp:revision>
  <dcterms:created xsi:type="dcterms:W3CDTF">2026-07-02T05:26:55Z</dcterms:created>
  <dcterms:modified xsi:type="dcterms:W3CDTF">2026-07-02T05:26:55Z</dcterms:modified>
</cp:coreProperties>
</file>