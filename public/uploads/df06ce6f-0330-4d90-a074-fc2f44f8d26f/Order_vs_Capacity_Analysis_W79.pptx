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負荷率 %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3A8A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台灣廠</c:v>
                  </c:pt>
                  <c:pt idx="1">
                    <c:v>徐州廠</c:v>
                  </c:pt>
                  <c:pt idx="2">
                    <c:v>無錫廠</c:v>
                  </c:pt>
                  <c:pt idx="3">
                    <c:v>集團合計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528.6</c:v>
                </c:pt>
                <c:pt idx="1">
                  <c:v>245.9</c:v>
                </c:pt>
                <c:pt idx="2">
                  <c:v>152.8</c:v>
                </c:pt>
                <c:pt idx="3">
                  <c:v>370.4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E3A8A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3A8A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6350" cap="flat">
      <a:solidFill>
        <a:srgbClr val="CBD5E1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月產能 (×30)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3A8A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台灣廠</c:v>
                  </c:pt>
                  <c:pt idx="1">
                    <c:v>徐州廠</c:v>
                  </c:pt>
                  <c:pt idx="2">
                    <c:v>無錫廠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1243890</c:v>
                </c:pt>
                <c:pt idx="1">
                  <c:v>369960</c:v>
                </c:pt>
                <c:pt idx="2">
                  <c:v>692160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訂單待生產量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3A8A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台灣廠</c:v>
                  </c:pt>
                  <c:pt idx="1">
                    <c:v>徐州廠</c:v>
                  </c:pt>
                  <c:pt idx="2">
                    <c:v>無錫廠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6574851</c:v>
                </c:pt>
                <c:pt idx="1">
                  <c:v>909840</c:v>
                </c:pt>
                <c:pt idx="2">
                  <c:v>1057482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3A8A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3A8A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3A8A"/>
              </a:solidFill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6350" cap="flat">
      <a:solidFill>
        <a:srgbClr val="CBD5E1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狀態分佈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A580C"/>
              </a:solidFill>
              <a:effectLst/>
            </c:spPr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Microsoft Jheng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🔴 超載 (&gt;100%)</c:v>
                </c:pt>
                <c:pt idx="1">
                  <c:v>🟡 吃緊 (80-100%)</c:v>
                </c:pt>
                <c:pt idx="2">
                  <c:v>🟢 充裕 (&lt;80%)</c:v>
                </c:pt>
                <c:pt idx="3">
                  <c:v>⚪ 無資料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</c:v>
                </c:pt>
                <c:pt idx="2">
                  <c:v>17</c:v>
                </c:pt>
                <c:pt idx="3">
                  <c:v>7</c:v>
                </c:pt>
              </c:numCache>
            </c:numRef>
          </c:val>
        </c:ser>
        <c:firstSliceAng val="0"/>
        <c:holeSize val="55"/>
      </c:doughnut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E3A8A"/>
              </a:solidFill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6350" cap="flat">
      <a:solidFill>
        <a:srgbClr val="CBD5E1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月產能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3A8A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DO-41</c:v>
                  </c:pt>
                  <c:pt idx="1">
                    <c:v>DO-15</c:v>
                  </c:pt>
                  <c:pt idx="2">
                    <c:v>DO-201AD/AE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153000</c:v>
                </c:pt>
                <c:pt idx="1">
                  <c:v>135000</c:v>
                </c:pt>
                <c:pt idx="2">
                  <c:v>40800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待生產量 ALL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3A8A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DO-41</c:v>
                  </c:pt>
                  <c:pt idx="1">
                    <c:v>DO-15</c:v>
                  </c:pt>
                  <c:pt idx="2">
                    <c:v>DO-201AD/AE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20955</c:v>
                </c:pt>
                <c:pt idx="1">
                  <c:v>282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3A8A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3A8A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3A8A"/>
              </a:solidFill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6350" cap="flat">
      <a:solidFill>
        <a:srgbClr val="CBD5E1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029200" cy="12801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28016"/>
            <a:ext cx="19202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30352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548640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566928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585216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603504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621792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640080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658368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530352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548640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566928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585216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603504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621792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640080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658368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Shape 20"/>
          <p:cNvSpPr/>
          <p:nvPr/>
        </p:nvSpPr>
        <p:spPr>
          <a:xfrm>
            <a:off x="1920240" y="530352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Shape 21"/>
          <p:cNvSpPr/>
          <p:nvPr/>
        </p:nvSpPr>
        <p:spPr>
          <a:xfrm>
            <a:off x="1920240" y="548640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Shape 22"/>
          <p:cNvSpPr/>
          <p:nvPr/>
        </p:nvSpPr>
        <p:spPr>
          <a:xfrm>
            <a:off x="1920240" y="566928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Shape 23"/>
          <p:cNvSpPr/>
          <p:nvPr/>
        </p:nvSpPr>
        <p:spPr>
          <a:xfrm>
            <a:off x="1920240" y="585216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1920240" y="603504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7" name="Shape 25"/>
          <p:cNvSpPr/>
          <p:nvPr/>
        </p:nvSpPr>
        <p:spPr>
          <a:xfrm>
            <a:off x="1920240" y="621792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Shape 26"/>
          <p:cNvSpPr/>
          <p:nvPr/>
        </p:nvSpPr>
        <p:spPr>
          <a:xfrm>
            <a:off x="1920240" y="640080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9" name="Shape 27"/>
          <p:cNvSpPr/>
          <p:nvPr/>
        </p:nvSpPr>
        <p:spPr>
          <a:xfrm>
            <a:off x="1920240" y="658368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0" name="Shape 28"/>
          <p:cNvSpPr/>
          <p:nvPr/>
        </p:nvSpPr>
        <p:spPr>
          <a:xfrm>
            <a:off x="2697480" y="530352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1" name="Shape 29"/>
          <p:cNvSpPr/>
          <p:nvPr/>
        </p:nvSpPr>
        <p:spPr>
          <a:xfrm>
            <a:off x="2697480" y="548640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2" name="Shape 30"/>
          <p:cNvSpPr/>
          <p:nvPr/>
        </p:nvSpPr>
        <p:spPr>
          <a:xfrm>
            <a:off x="2697480" y="566928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3" name="Shape 31"/>
          <p:cNvSpPr/>
          <p:nvPr/>
        </p:nvSpPr>
        <p:spPr>
          <a:xfrm>
            <a:off x="2697480" y="585216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4" name="Shape 32"/>
          <p:cNvSpPr/>
          <p:nvPr/>
        </p:nvSpPr>
        <p:spPr>
          <a:xfrm>
            <a:off x="2697480" y="603504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5" name="Shape 33"/>
          <p:cNvSpPr/>
          <p:nvPr/>
        </p:nvSpPr>
        <p:spPr>
          <a:xfrm>
            <a:off x="2697480" y="621792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6" name="Shape 34"/>
          <p:cNvSpPr/>
          <p:nvPr/>
        </p:nvSpPr>
        <p:spPr>
          <a:xfrm>
            <a:off x="2697480" y="640080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7" name="Shape 35"/>
          <p:cNvSpPr/>
          <p:nvPr/>
        </p:nvSpPr>
        <p:spPr>
          <a:xfrm>
            <a:off x="2697480" y="658368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8" name="Shape 36"/>
          <p:cNvSpPr/>
          <p:nvPr/>
        </p:nvSpPr>
        <p:spPr>
          <a:xfrm>
            <a:off x="3474720" y="530352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9" name="Shape 37"/>
          <p:cNvSpPr/>
          <p:nvPr/>
        </p:nvSpPr>
        <p:spPr>
          <a:xfrm>
            <a:off x="3474720" y="548640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0" name="Shape 38"/>
          <p:cNvSpPr/>
          <p:nvPr/>
        </p:nvSpPr>
        <p:spPr>
          <a:xfrm>
            <a:off x="3474720" y="566928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1" name="Shape 39"/>
          <p:cNvSpPr/>
          <p:nvPr/>
        </p:nvSpPr>
        <p:spPr>
          <a:xfrm>
            <a:off x="3474720" y="585216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2" name="Shape 40"/>
          <p:cNvSpPr/>
          <p:nvPr/>
        </p:nvSpPr>
        <p:spPr>
          <a:xfrm>
            <a:off x="3474720" y="603504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3" name="Shape 41"/>
          <p:cNvSpPr/>
          <p:nvPr/>
        </p:nvSpPr>
        <p:spPr>
          <a:xfrm>
            <a:off x="3474720" y="621792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4" name="Shape 42"/>
          <p:cNvSpPr/>
          <p:nvPr/>
        </p:nvSpPr>
        <p:spPr>
          <a:xfrm>
            <a:off x="3474720" y="640080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5" name="Shape 43"/>
          <p:cNvSpPr/>
          <p:nvPr/>
        </p:nvSpPr>
        <p:spPr>
          <a:xfrm>
            <a:off x="3474720" y="658368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6" name="Shape 44"/>
          <p:cNvSpPr/>
          <p:nvPr/>
        </p:nvSpPr>
        <p:spPr>
          <a:xfrm>
            <a:off x="4251960" y="530352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7" name="Shape 45"/>
          <p:cNvSpPr/>
          <p:nvPr/>
        </p:nvSpPr>
        <p:spPr>
          <a:xfrm>
            <a:off x="4251960" y="548640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8" name="Shape 46"/>
          <p:cNvSpPr/>
          <p:nvPr/>
        </p:nvSpPr>
        <p:spPr>
          <a:xfrm>
            <a:off x="4251960" y="566928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9" name="Shape 47"/>
          <p:cNvSpPr/>
          <p:nvPr/>
        </p:nvSpPr>
        <p:spPr>
          <a:xfrm>
            <a:off x="4251960" y="585216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0" name="Shape 48"/>
          <p:cNvSpPr/>
          <p:nvPr/>
        </p:nvSpPr>
        <p:spPr>
          <a:xfrm>
            <a:off x="4251960" y="603504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1" name="Shape 49"/>
          <p:cNvSpPr/>
          <p:nvPr/>
        </p:nvSpPr>
        <p:spPr>
          <a:xfrm>
            <a:off x="4251960" y="621792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2" name="Shape 50"/>
          <p:cNvSpPr/>
          <p:nvPr/>
        </p:nvSpPr>
        <p:spPr>
          <a:xfrm>
            <a:off x="4251960" y="640080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3" name="Shape 51"/>
          <p:cNvSpPr/>
          <p:nvPr/>
        </p:nvSpPr>
        <p:spPr>
          <a:xfrm>
            <a:off x="4251960" y="6583680"/>
            <a:ext cx="45720" cy="457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PRODUCTION &amp; SALES MEETING — W79 SNAPSHOT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1051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457200" y="1508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週次 79｜資料快照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57200" y="22860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W79</a:t>
            </a:r>
            <a:endParaRPr lang="en-US" sz="13000" dirty="0"/>
          </a:p>
        </p:txBody>
      </p:sp>
      <p:sp>
        <p:nvSpPr>
          <p:cNvPr id="58" name="Shape 56"/>
          <p:cNvSpPr/>
          <p:nvPr/>
        </p:nvSpPr>
        <p:spPr>
          <a:xfrm>
            <a:off x="457200" y="4846320"/>
            <a:ext cx="41148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937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簡報日期  2026-07-10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394960" y="1371600"/>
            <a:ext cx="91440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1" name="Text 59"/>
          <p:cNvSpPr/>
          <p:nvPr/>
        </p:nvSpPr>
        <p:spPr>
          <a:xfrm>
            <a:off x="5623560" y="132588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</a:t>
            </a:r>
            <a:endParaRPr lang="en-US" sz="4200" dirty="0"/>
          </a:p>
        </p:txBody>
      </p:sp>
      <p:sp>
        <p:nvSpPr>
          <p:cNvPr id="62" name="Text 60"/>
          <p:cNvSpPr/>
          <p:nvPr/>
        </p:nvSpPr>
        <p:spPr>
          <a:xfrm>
            <a:off x="5623560" y="21945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vs  產能負荷率分析</a:t>
            </a:r>
            <a:endParaRPr lang="en-US" sz="3400" dirty="0"/>
          </a:p>
        </p:txBody>
      </p:sp>
      <p:sp>
        <p:nvSpPr>
          <p:cNvPr id="63" name="Text 61"/>
          <p:cNvSpPr/>
          <p:nvPr/>
        </p:nvSpPr>
        <p:spPr>
          <a:xfrm>
            <a:off x="562356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Order Backlog vs Capacity Load Analysis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623560" y="397764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23560" y="3977640"/>
            <a:ext cx="150876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6" name="Text 64"/>
          <p:cNvSpPr/>
          <p:nvPr/>
        </p:nvSpPr>
        <p:spPr>
          <a:xfrm>
            <a:off x="5623560" y="41605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66</a:t>
            </a:r>
            <a:endParaRPr lang="en-US" sz="2400" dirty="0"/>
          </a:p>
        </p:txBody>
      </p:sp>
      <p:sp>
        <p:nvSpPr>
          <p:cNvPr id="67" name="Text 65"/>
          <p:cNvSpPr/>
          <p:nvPr/>
        </p:nvSpPr>
        <p:spPr>
          <a:xfrm>
            <a:off x="5623560" y="4892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PACKAGE_GROUP 品項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223760" y="397764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223760" y="3977640"/>
            <a:ext cx="150876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0" name="Text 68"/>
          <p:cNvSpPr/>
          <p:nvPr/>
        </p:nvSpPr>
        <p:spPr>
          <a:xfrm>
            <a:off x="7223760" y="41605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400" dirty="0"/>
          </a:p>
        </p:txBody>
      </p:sp>
      <p:sp>
        <p:nvSpPr>
          <p:cNvPr id="71" name="Text 69"/>
          <p:cNvSpPr/>
          <p:nvPr/>
        </p:nvSpPr>
        <p:spPr>
          <a:xfrm>
            <a:off x="7223760" y="4892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廠別（台/徐/無）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823960" y="397764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23960" y="3977640"/>
            <a:ext cx="1508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4" name="Text 72"/>
          <p:cNvSpPr/>
          <p:nvPr/>
        </p:nvSpPr>
        <p:spPr>
          <a:xfrm>
            <a:off x="8823960" y="41605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370.4%</a:t>
            </a:r>
            <a:endParaRPr lang="en-US" sz="2400" dirty="0"/>
          </a:p>
        </p:txBody>
      </p:sp>
      <p:sp>
        <p:nvSpPr>
          <p:cNvPr id="75" name="Text 73"/>
          <p:cNvSpPr/>
          <p:nvPr/>
        </p:nvSpPr>
        <p:spPr>
          <a:xfrm>
            <a:off x="8823960" y="4892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集團整體負荷率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0424160" y="397764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424160" y="3977640"/>
            <a:ext cx="150876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8" name="Text 76"/>
          <p:cNvSpPr/>
          <p:nvPr/>
        </p:nvSpPr>
        <p:spPr>
          <a:xfrm>
            <a:off x="10424160" y="41605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40/66</a:t>
            </a:r>
            <a:endParaRPr lang="en-US" sz="2400" dirty="0"/>
          </a:p>
        </p:txBody>
      </p:sp>
      <p:sp>
        <p:nvSpPr>
          <p:cNvPr id="79" name="Text 77"/>
          <p:cNvSpPr/>
          <p:nvPr/>
        </p:nvSpPr>
        <p:spPr>
          <a:xfrm>
            <a:off x="10424160" y="4892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超載品項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623560" y="5852160"/>
            <a:ext cx="6309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23560" y="59436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資料來源：09-V1 產能利用周報-客戶訂單需求分析(79).xlsx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623560" y="62636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產銷會議用｜Confidential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267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  EXECUTIVE 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執行摘要｜五大核心結論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28016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70432"/>
            <a:ext cx="4572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417320"/>
            <a:ext cx="5120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17320"/>
            <a:ext cx="109728" cy="1417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370.4%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97180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集團整體負荷率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2103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 ÷ 月產能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5120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17520"/>
            <a:ext cx="109728" cy="1417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154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97180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廠別皆超載（&gt;100%）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71800" y="3703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 528.6% · 徐州 245.9% · 無錫 152.8%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5120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617720"/>
            <a:ext cx="109728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754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/ 66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2971800" y="4800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品項處於超載狀態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71800" y="5303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60.6% 的 PACKAGE_GROUP 已超載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1417320"/>
            <a:ext cx="60350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1417320"/>
            <a:ext cx="603504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144475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 5  行動建議（標題）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97880" y="20116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92240" y="20299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台灣廠 SOT-23／SOD-323／SOD-123／SOT-323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2377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四大缺口品項，優先評估外包／擴充／分流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97880" y="2788920"/>
            <a:ext cx="57607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8346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92240" y="28529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無錫 DFN5060-8L 極端超載 1,700%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消化期達 17 個月，需啟動客戶交期協商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97880" y="3611880"/>
            <a:ext cx="57607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36576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92240" y="3675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徐州 SOT-363/353 臨界 99.2%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92240" y="4023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列入監控名單，避免新單追加引爆超載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97880" y="4434840"/>
            <a:ext cx="57607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44805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492240" y="44988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無錫 DO 系列閒置產能盤點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92240" y="4846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DO-41/DO-15/DO-201AD/AE 可轉接訂單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5257800"/>
            <a:ext cx="57607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53035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492240" y="53218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PV/P-600 系列日產能資料缺口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9224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建議補齊 8 筆，以完成集團全景評估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 vs 產能負荷率分析｜週次 79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0" y="6537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產銷會議｜W79 資料快照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267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  FACTORY 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廠別總覽 KPI 表｜台灣／徐州／無錫／合計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28016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70432"/>
            <a:ext cx="457200" cy="45720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11475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280160"/>
                <a:gridCol w="1554480"/>
                <a:gridCol w="1828800"/>
                <a:gridCol w="1417320"/>
                <a:gridCol w="146304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廠別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品項數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日產能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月產能 (×30)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訂單待生產量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負荷率 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MoM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41,463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1,243,890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6,574,851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528.6%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🔴 超載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i="1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首週基準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徐州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12,332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369,960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909,840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245.9%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🔴 超載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i="1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首週基準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無錫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23,072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692,160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1,057,482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152.8%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🔴 超載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i="1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首週基準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集團合計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76,867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2,306,010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8,542,173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370.4%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🔴 超載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i="1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首週基準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937760"/>
            <a:ext cx="3703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4937760"/>
            <a:ext cx="91440" cy="1234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502920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集團三廠皆超載，尤以台灣廠 528.6% 為最高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06240" y="4937760"/>
            <a:ext cx="3703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4937760"/>
            <a:ext cx="91440" cy="1234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1"/>
          <p:cNvSpPr/>
          <p:nvPr/>
        </p:nvSpPr>
        <p:spPr>
          <a:xfrm>
            <a:off x="4407408" y="502920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徐州廠 SOT-363/353 逼近滿載，需列入監控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46720" y="4937760"/>
            <a:ext cx="3703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0" y="4937760"/>
            <a:ext cx="91440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8247888" y="502920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無錫廠日產能總量最大，惟部分品項（DFN5060-8L）極端超載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 vs 產能負荷率分析｜週次 79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0" y="6537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產銷會議｜W79 資料快照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267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  LOAD  RATIO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各廠負荷率視覺化｜含 100% 滿載基準線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28016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70432"/>
            <a:ext cx="457200" cy="45720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75895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412480" y="1417320"/>
            <a:ext cx="3429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0" y="1417320"/>
            <a:ext cx="3429000" cy="4114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8549640" y="144475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關鍵觀察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49640" y="19659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 528.6%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49640" y="2350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集團最高，訂單集中度極高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49640" y="2926080"/>
            <a:ext cx="3154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49640" y="3017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徐州 245.9%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49640" y="34015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雖低於台灣，仍達 2.5 倍月產能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549640" y="3977640"/>
            <a:ext cx="3154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0690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無錫 152.8%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549640" y="44531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總量最平衡，但含極端案例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549640" y="5029200"/>
            <a:ext cx="3154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49640" y="5120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集團 370.4%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549640" y="5504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相當於 3.7 個月訂單存量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4" name="Shape 21"/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 vs 產能負荷率分析｜週次 79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29600" y="6537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產銷會議｜W79 資料快照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267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  CAPACITY  vs  BACKLOG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月產能 vs 訂單待生產量對比｜三廠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28016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70432"/>
            <a:ext cx="457200" cy="45720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548640" y="1417320"/>
          <a:ext cx="11155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71500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7881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台灣廠  缺口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377440" y="57881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5,330,961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43400" y="571500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80560" y="57881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徐州廠  缺口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72200" y="57881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539,880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138160" y="571500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5320" y="57881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無錫廠  缺口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966960" y="57881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365,322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 vs 產能負荷率分析｜週次 79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0" y="6537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產銷會議｜W79 資料快照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267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  STATUS  DISTRIBUTION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66 品項狀態分佈｜超載／吃緊／充裕／無資料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28016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70432"/>
            <a:ext cx="457200" cy="45720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1417320"/>
          <a:ext cx="5943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141732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1417320"/>
            <a:ext cx="109728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155448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183880" y="1554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超載品項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83880" y="1965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佔比 60.6% — 主要壓力來源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75120" y="265176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0" y="2651760"/>
            <a:ext cx="109728" cy="10972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278892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8183880" y="27889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吃緊品項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83880" y="3200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徐州 SOT-363/353、無錫 TO-220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75120" y="388620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75120" y="3886200"/>
            <a:ext cx="109728" cy="10972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0" y="402336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8183880" y="4023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充裕品項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183880" y="4434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負荷率 &lt; 80%（含零訂單）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675120" y="512064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75120" y="5120640"/>
            <a:ext cx="109728" cy="10972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0" y="525780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4000" dirty="0"/>
          </a:p>
        </p:txBody>
      </p:sp>
      <p:sp>
        <p:nvSpPr>
          <p:cNvPr id="27" name="Text 24"/>
          <p:cNvSpPr/>
          <p:nvPr/>
        </p:nvSpPr>
        <p:spPr>
          <a:xfrm>
            <a:off x="8183880" y="5257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無資料品項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183880" y="5669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PV 系列與 P-600 系列 (無錫)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0" name="Shape 27"/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8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 vs 產能負荷率分析｜週次 79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13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229600" y="6537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產銷會議｜W79 資料快照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267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  TOP  15  OVERLOAD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 15 超載品項｜依負荷率排序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28016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70432"/>
            <a:ext cx="457200" cy="45720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15214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822960"/>
                <a:gridCol w="2103120"/>
                <a:gridCol w="1234440"/>
                <a:gridCol w="1371600"/>
                <a:gridCol w="1965960"/>
                <a:gridCol w="160020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PACKAGE_GROUP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日產能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月產能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訂單待生產量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負荷率 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超載月數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DFN5060-8L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15,300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1,700.0%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17.0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SOT-323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3,430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102,900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767,661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746.0%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SOT23-6L/5L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531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15,930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111,321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698.8%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DFN3333-8L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1,500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9,780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652.0%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SOD-123HE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10,710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69,201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646.1%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SOD-323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8,477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254,310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1,559,561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613.2%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TO-277B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1,590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9,620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605.0%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SOT-23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8,820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264,600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1,583,817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598.6%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SMAF-C/SMAF-1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7,770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42,746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550.1%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SOD-323HE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686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20,580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109,510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532.1%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SOD-523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2,977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89,310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463,474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519.0%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SOT-363/353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1,602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48,060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248,849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517.8%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SOD-123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3,315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99,450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494,683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497.4%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TO-277C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5,520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27,205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492.8%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8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DO-218AB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990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4,852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490.1%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 vs 產能負荷率分析｜週次 79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0" y="6537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產銷會議｜W79 資料快照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267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  TAIWAN  KEY  GAPS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 缺口品項聚焦｜台灣廠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28016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70432"/>
            <a:ext cx="4572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1732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54864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544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SOT-23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598.6%  負荷率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161544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60320"/>
            <a:ext cx="143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月產能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143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264,600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346960" y="2514600"/>
            <a:ext cx="161544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38400" y="2560320"/>
            <a:ext cx="143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待生產量 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38400" y="2834640"/>
            <a:ext cx="143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1,583,817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053840" y="2514600"/>
            <a:ext cx="161544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45280" y="2560320"/>
            <a:ext cx="143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月缺口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45280" y="2834640"/>
            <a:ext cx="143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1,319,217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63640" y="141732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417320"/>
            <a:ext cx="54864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15544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SOD-323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46520" y="20574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613.2%  負荷率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46520" y="2514600"/>
            <a:ext cx="161544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560320"/>
            <a:ext cx="143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月產能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2834640"/>
            <a:ext cx="143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254,310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153400" y="2514600"/>
            <a:ext cx="161544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4840" y="2560320"/>
            <a:ext cx="143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待生產量 ALL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44840" y="2834640"/>
            <a:ext cx="143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1,559,561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860280" y="2514600"/>
            <a:ext cx="161544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51720" y="2560320"/>
            <a:ext cx="143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月缺口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51720" y="2834640"/>
            <a:ext cx="143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1,305,251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749040"/>
            <a:ext cx="54864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886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SOT-323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40080" y="4389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746.0%  負荷率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4846320"/>
            <a:ext cx="161544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892040"/>
            <a:ext cx="143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月產能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5166360"/>
            <a:ext cx="143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102,900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2346960" y="4846320"/>
            <a:ext cx="161544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38400" y="4892040"/>
            <a:ext cx="143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待生產量 ALL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438400" y="5166360"/>
            <a:ext cx="143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767,661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053840" y="4846320"/>
            <a:ext cx="161544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45280" y="4892040"/>
            <a:ext cx="143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月缺口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45280" y="5166360"/>
            <a:ext cx="143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664,761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263640" y="374904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63640" y="3749040"/>
            <a:ext cx="54864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3886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SOD-123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446520" y="4389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497.4%  負荷率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446520" y="4846320"/>
            <a:ext cx="161544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4892040"/>
            <a:ext cx="143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月產能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537960" y="5166360"/>
            <a:ext cx="143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99,450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8153400" y="4846320"/>
            <a:ext cx="161544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44840" y="4892040"/>
            <a:ext cx="143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待生產量 ALL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44840" y="5166360"/>
            <a:ext cx="143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494,683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860280" y="4846320"/>
            <a:ext cx="161544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51720" y="4892040"/>
            <a:ext cx="143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月缺口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951720" y="5166360"/>
            <a:ext cx="143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395,233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1" name="Shape 59"/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 vs 產能負荷率分析｜週次 79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13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9600" y="6537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產銷會議｜W79 資料快照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267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  CRITICAL  ALERT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極端案例｜無錫 DFN5060-8L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28016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70432"/>
            <a:ext cx="4572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417320"/>
            <a:ext cx="11475720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087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828800" y="15087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DFN5060-8L  ／  負荷率 1,700.0%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28800" y="2103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無錫廠  ·  約需 17 個月消化現有訂單  ·  W79 集團最極端超載品項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2194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063240"/>
            <a:ext cx="21945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日配置產能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5204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65760" y="42336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／日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79192" y="3063240"/>
            <a:ext cx="2194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79192" y="3063240"/>
            <a:ext cx="21945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2679192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月產能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79192" y="35204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679192" y="42336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（×30 天）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92624" y="3063240"/>
            <a:ext cx="2194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92624" y="3063240"/>
            <a:ext cx="219456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4992624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92624" y="35204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15,300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992624" y="42336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06056" y="3063240"/>
            <a:ext cx="2194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06056" y="3063240"/>
            <a:ext cx="21945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7306056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負荷率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06056" y="35204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1,700.0%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306056" y="42336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（月產能倍數 17）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619488" y="3063240"/>
            <a:ext cx="21945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19488" y="3063240"/>
            <a:ext cx="21945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9619488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消化期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19488" y="35204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17.0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619488" y="42336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個月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892040"/>
            <a:ext cx="11475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892040"/>
            <a:ext cx="109728" cy="1417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4983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立即行動建議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94360" y="534924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與客戶協商分批交期，避免以單月產能追趕整年訂單量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評估產能擴充（增機／增班）或啟動子承包／同集團廠內轉單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檢視訂單真實需求（是否含長料 / 安全庫存需求），排除虛胖後重估實質缺口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 vs 產能負荷率分析｜週次 79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6537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產銷會議｜W79 資料快照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267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  WATCH  LIST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臨界觀察名單｜吃緊 80–100%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28016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70432"/>
            <a:ext cx="4572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417320"/>
            <a:ext cx="5943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17320"/>
            <a:ext cx="594360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4475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🟡  吃緊 / 逼近滿載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徐州廠  SOT-363/353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99.2%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負荷率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269748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14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日產能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4074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4,000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337560" y="4023360"/>
            <a:ext cx="269748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4114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月產能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44074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120,000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269748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1663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待生產量 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4589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119,001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37560" y="5074920"/>
            <a:ext cx="269748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51663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消化期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54589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0.99 月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537960" y="141732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1417320"/>
            <a:ext cx="530352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14447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風險評估與行動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20840" y="1920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22402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現行負荷率 99.2%，等同「滿載但無緩衝」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任何新增訂單或急件插單都會立即形成超載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若客戶前置需求微幅波動，可能導致 W80 直接翻紅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3703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建議行動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20840" y="40233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列入 W80–W82 週報監控名單，逐週回報負荷率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業務端凍結新單承接／要求交期彈性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預留 5–10% 產能緩衝作為插單保護區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5623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備註：無錫廠 TO-220（89.3%）同樣列入吃緊觀察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 vs 產能負荷率分析｜週次 79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6537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產銷會議｜W79 資料快照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267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  IDLE  CAPACITY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產能閒置與內部調度潛力｜無錫廠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28016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70432"/>
            <a:ext cx="457200" cy="45720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365760" y="1417320"/>
          <a:ext cx="68580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360920" y="1417320"/>
            <a:ext cx="4480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60920" y="1417320"/>
            <a:ext cx="109728" cy="1508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DO-41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89520" y="1874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負荷率 13.7%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可釋出月產能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372600" y="21945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132,045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360920" y="3063240"/>
            <a:ext cx="4480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60920" y="3063240"/>
            <a:ext cx="109728" cy="1508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4"/>
          <p:cNvSpPr/>
          <p:nvPr/>
        </p:nvSpPr>
        <p:spPr>
          <a:xfrm>
            <a:off x="758952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DO-15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89520" y="3520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負荷率 0.2%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8952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可釋出月產能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372600" y="3840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134,718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7360920" y="4709160"/>
            <a:ext cx="4480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60920" y="4709160"/>
            <a:ext cx="109728" cy="1508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0"/>
          <p:cNvSpPr/>
          <p:nvPr/>
        </p:nvSpPr>
        <p:spPr>
          <a:xfrm>
            <a:off x="7589520" y="4800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DO-201AD/AE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589520" y="5166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負荷率 0.0%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589520" y="5486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可釋出月產能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372600" y="5486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40,800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365760" y="5943600"/>
            <a:ext cx="11475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594360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三品項合計可釋出月產能 ≈ 307,563  ／  惟屬 DO 系列，須確認是否與台灣廠超載品項具製程共通性以評估轉線可行性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0" name="Shape 27"/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8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 vs 產能負荷率分析｜週次 79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13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229600" y="6537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產銷會議｜W79 資料快照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267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  ACTION  ITEMS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行動建議｜Top 5 S&amp;OP 方案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28016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70432"/>
            <a:ext cx="4572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371600"/>
            <a:ext cx="11475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71600"/>
            <a:ext cx="128016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4630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508760" y="144475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台灣廠 SOT-23／SOD-323／SOD-123／SOT-323 四大缺口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181051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月缺口合計約 368 萬顆。啟動：（a）委外／集團廠內轉單評估　（b）機台增機需求盤點　（c）與客戶協商分批出貨與交期展延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11475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31720"/>
            <a:ext cx="128016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4231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508760" y="240487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無錫 DFN5060-8L 極端超載 1,700%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277063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消化期達 17 個月，屬集團最高風險品項。啟動：（a）48 小時內召集客戶三方會議　（b）評估分批交期與交期展延　（c）鎖單至 W82 前不再承接新單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11475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91840"/>
            <a:ext cx="128016" cy="8686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3832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508760" y="33649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徐州 SOT-363/353 逼近 99.2% 滿載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373075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列入 W80–W82 週報監控名單，預留 5–10% 產能緩衝，業務端凍結新單承接直至負荷率回穩至 90% 以下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11475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251960"/>
            <a:ext cx="128016" cy="868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34340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508760" y="432511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無錫 DO 系列產能閒置盤點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469087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DO-41／DO-15／DO-201AD/AE 三項合計可釋出月產能約 30.7 萬顆。評估：（a）與台灣廠超載品項的製程共通性　（b）業務端主動開發需求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5212080"/>
            <a:ext cx="11475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5212080"/>
            <a:ext cx="128016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530352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1508760" y="528523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PV 系列與 P-600 系列日產能資料缺口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08760" y="565099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個品項未提供 DAILY_DEPLOY_CAP。請 W80 前補齊，以完成集團全景負荷率評估；並建議提供多週資料以進行趨勢比對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 vs 產能負荷率分析｜週次 79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6537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產銷會議｜W79 資料快照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267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  DATA  INTEGRITY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資料忠實度自我稽核 &amp; 附註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28016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170432"/>
            <a:ext cx="4572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417320"/>
            <a:ext cx="57607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17320"/>
            <a:ext cx="576072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447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來源檔與計算規則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來源檔 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09-V1 產能利用周報-客戶訂單需求分析(79).xlsx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快照時點 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週次 79（W79，首週基準）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計算規則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月產能 = DAILY_DEPLOY_CAP × 30 天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負荷率 = 訂單待生產量 ALL ÷ 月產能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消化期 = 待生產量 ÷ 月產能（月）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涵蓋範圍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台灣廠 26 品項 · 徐州廠 5 品項 · 無錫廠 35 品項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合計 66 個 PACKAGE_GROUP（Function 分類：MOS／SKY／SWI／TVS / ESD／ZENER 等產品功能別）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17320"/>
            <a:ext cx="553212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44752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資料缺口與後續建議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5166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資料缺口（7 個品項｜無錫廠）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P-600 / P-600-1 / P600-1S / P600-1F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PV-JK09 / TL-09、PV-JK09ES、PV-JK09EXY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PV-JK09L、PV-QC3Q、PV-TS306X / PVSM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以上品項 DAILY_DEPLOY_CAP 未提供，負荷率無法計算，本簡報以「資料未提供」標示，未自行推估或以他值補入。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資料忠實度自我稽核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全部數字均可回溯來源檔對應欄位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廠別／品項名稱一律以來源檔為準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未使用任何來源外的公司名／客戶名／模型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後續建議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補齊 PV/P-600 系列日產能資料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提供 W76–W79 多週資料以建立負荷率趨勢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增列 Function 別（MOS/SKY 等）標記，利於分產品線 S&amp;OP 討論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訂單待生產量 vs 產能負荷率分析｜週次 79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6537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產銷會議｜W79 資料快照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訂單待生產量 vs 產能負荷率分析 W79</dc:title>
  <dc:subject>PptxGenJS Presentation</dc:subject>
  <dc:creator>PptxGenJS</dc:creator>
  <cp:lastModifiedBy>PptxGenJS</cp:lastModifiedBy>
  <cp:revision>1</cp:revision>
  <dcterms:created xsi:type="dcterms:W3CDTF">2026-07-09T16:26:47Z</dcterms:created>
  <dcterms:modified xsi:type="dcterms:W3CDTF">2026-07-09T16:26:47Z</dcterms:modified>
</cp:coreProperties>
</file>